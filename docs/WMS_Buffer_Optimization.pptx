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286000"/>
            <a:ext cx="8229600" cy="137160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4000" b="1">
                <a:solidFill>
                  <a:srgbClr val="FFFFFF"/>
                </a:solidFill>
              </a:defRPr>
            </a:pPr>
            <a:r>
              <a:t>Оптимизация буферной зоны склада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384048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>
                <a:solidFill>
                  <a:srgbClr val="646464"/>
                </a:solidFill>
              </a:defRPr>
            </a:pPr>
            <a:r>
              <a:t>WMS Buffer Management System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274320"/>
          <a:lstStyle/>
          <a:p>
            <a:pPr algn="ctr">
              <a:defRPr sz="3200" b="1">
                <a:solidFill>
                  <a:srgbClr val="FFFFFF"/>
                </a:solidFill>
              </a:defRPr>
            </a:pPr>
            <a:r>
              <a:t>1. Текущая ситуация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371600"/>
            <a:ext cx="8229600" cy="2286000"/>
          </a:xfrm>
          <a:prstGeom prst="rect">
            <a:avLst/>
          </a:prstGeom>
          <a:solidFill>
            <a:srgbClr val="F0F0F0"/>
          </a:solidFill>
          <a:ln>
            <a:solidFill>
              <a:srgbClr val="C8C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82880"/>
          <a:lstStyle/>
          <a:p>
            <a:pPr algn="ctr">
              <a:defRPr sz="1400">
                <a:latin typeface="Courier New"/>
              </a:defRPr>
            </a:pPr>
            <a:r>
              <a:t>ХРАНЕНИЕ  ──[3 карщика]──►  БУФЕР (64 ячейки)  ──[20 сборщиков]──►  СБОРКА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840480"/>
            <a:ext cx="82296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1800"/>
            </a:pPr>
            <a:r>
              <a:t>• 3 карщика доставляют моно-палеты из хранения в буфер</a:t>
            </a:r>
          </a:p>
          <a:p>
            <a:pPr>
              <a:spcBef>
                <a:spcPts val="800"/>
              </a:spcBef>
              <a:defRPr sz="1800"/>
            </a:pPr>
            <a:r>
              <a:t>• 64 ячейки буфера — временное хранение для сборки</a:t>
            </a:r>
          </a:p>
          <a:p>
            <a:pPr>
              <a:spcBef>
                <a:spcPts val="800"/>
              </a:spcBef>
              <a:defRPr sz="1800"/>
            </a:pPr>
            <a:r>
              <a:t>• 20 сборщиков забирают товары и распределяют по заказам</a:t>
            </a:r>
          </a:p>
          <a:p>
            <a:pPr>
              <a:spcBef>
                <a:spcPts val="800"/>
              </a:spcBef>
              <a:defRPr sz="1800"/>
            </a:pPr>
            <a:r>
              <a:t>• Проблема: синхронизация подачи палет со скоростью сборки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274320"/>
          <a:lstStyle/>
          <a:p>
            <a:pPr algn="ctr">
              <a:defRPr sz="3200" b="1">
                <a:solidFill>
                  <a:srgbClr val="FFFFFF"/>
                </a:solidFill>
              </a:defRPr>
            </a:pPr>
            <a:r>
              <a:t>2. Почему это важно — потери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371600"/>
          <a:ext cx="822960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91440">
                <a:tc>
                  <a:txBody>
                    <a:bodyPr/>
                    <a:lstStyle/>
                    <a:p>
                      <a:pPr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Ситуация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Последствия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</a:tr>
              <a:tr h="9144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Буфер пустой (&lt;15%)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Сборщики простаивают, заказы задерживаются</a:t>
                      </a:r>
                    </a:p>
                  </a:txBody>
                  <a:tcPr/>
                </a:tc>
              </a:tr>
              <a:tr h="9144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Буфер переполнен (&gt;70%)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Карщики ждут освобождения ячеек</a:t>
                      </a:r>
                    </a:p>
                  </a:txBody>
                  <a:tcPr/>
                </a:tc>
              </a:tr>
              <a:tr h="9144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Неравномерная нагрузка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Одни перегружены, другие простаивают</a:t>
                      </a:r>
                    </a:p>
                  </a:txBody>
                  <a:tcPr/>
                </a:tc>
              </a:tr>
              <a:tr h="9144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Каждый сбой потока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Задержка целой волны заказов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274320"/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3. Решение — 3 уровня оптимизации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2000"/>
            </a:pPr>
            <a:r>
              <a:t>УРОВЕНЬ 3: ПРОГНОЗИРОВАНИЕ (Historical Layer)</a:t>
            </a:r>
          </a:p>
          <a:p>
            <a:pPr>
              <a:spcBef>
                <a:spcPts val="1200"/>
              </a:spcBef>
              <a:defRPr sz="2000"/>
            </a:pPr>
            <a:r>
              <a:t>   → ML-модели предсказывают время выполнения задач</a:t>
            </a:r>
          </a:p>
          <a:p>
            <a:pPr>
              <a:spcBef>
                <a:spcPts val="1200"/>
              </a:spcBef>
              <a:defRPr sz="2000"/>
            </a:pPr>
          </a:p>
          <a:p>
            <a:pPr>
              <a:spcBef>
                <a:spcPts val="1200"/>
              </a:spcBef>
              <a:defRPr sz="2000"/>
            </a:pPr>
            <a:r>
              <a:t>УРОВЕНЬ 2: ПЛАНИРОВАНИЕ (Tactical Layer)</a:t>
            </a:r>
          </a:p>
          <a:p>
            <a:pPr>
              <a:spcBef>
                <a:spcPts val="1200"/>
              </a:spcBef>
              <a:defRPr sz="2000"/>
            </a:pPr>
            <a:r>
              <a:t>   → OR-Tools оптимизирует назначения и расписание</a:t>
            </a:r>
          </a:p>
          <a:p>
            <a:pPr>
              <a:spcBef>
                <a:spcPts val="1200"/>
              </a:spcBef>
              <a:defRPr sz="2000"/>
            </a:pPr>
          </a:p>
          <a:p>
            <a:pPr>
              <a:spcBef>
                <a:spcPts val="1200"/>
              </a:spcBef>
              <a:defRPr sz="2000"/>
            </a:pPr>
            <a:r>
              <a:t>УРОВЕНЬ 1: РЕАГИРОВАНИЕ (Realtime Layer)</a:t>
            </a:r>
          </a:p>
          <a:p>
            <a:pPr>
              <a:spcBef>
                <a:spcPts val="1200"/>
              </a:spcBef>
              <a:defRPr sz="2000"/>
            </a:pPr>
            <a:r>
              <a:t>   → Гистерезис-контроллер управляет уровнем буфера</a:t>
            </a:r>
          </a:p>
          <a:p>
            <a:pPr>
              <a:spcBef>
                <a:spcPts val="1200"/>
              </a:spcBef>
              <a:defRPr sz="2000"/>
            </a:pPr>
          </a:p>
          <a:p>
            <a:pPr>
              <a:spcBef>
                <a:spcPts val="1200"/>
              </a:spcBef>
              <a:defRPr sz="2000"/>
            </a:pPr>
            <a:r>
              <a:t>Принцип: Прогноз → План → Исполнение → Корректировка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274320"/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4. ML-модели для прогнозирования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2000"/>
            </a:pPr>
            <a:r>
              <a:t>Модель 1: Время сборки (Picker Duration)</a:t>
            </a:r>
          </a:p>
          <a:p>
            <a:pPr>
              <a:spcBef>
                <a:spcPts val="1200"/>
              </a:spcBef>
              <a:defRPr sz="2000"/>
            </a:pPr>
            <a:r>
              <a:t>   Входы: ID сборщика, кол-во строк, кол-во товаров, час, день недели</a:t>
            </a:r>
          </a:p>
          <a:p>
            <a:pPr>
              <a:spcBef>
                <a:spcPts val="1200"/>
              </a:spcBef>
              <a:defRPr sz="2000"/>
            </a:pPr>
            <a:r>
              <a:t>   Выход: прогноз времени выполнения задания (секунды)</a:t>
            </a:r>
          </a:p>
          <a:p>
            <a:pPr>
              <a:spcBef>
                <a:spcPts val="1200"/>
              </a:spcBef>
              <a:defRPr sz="2000"/>
            </a:pPr>
          </a:p>
          <a:p>
            <a:pPr>
              <a:spcBef>
                <a:spcPts val="1200"/>
              </a:spcBef>
              <a:defRPr sz="2000"/>
            </a:pPr>
            <a:r>
              <a:t>Модель 2: Время маршрута карщика (Forklift Duration)</a:t>
            </a:r>
          </a:p>
          <a:p>
            <a:pPr>
              <a:spcBef>
                <a:spcPts val="1200"/>
              </a:spcBef>
              <a:defRPr sz="2000"/>
            </a:pPr>
            <a:r>
              <a:t>   Входы: ID карщика, зона источника → зона назначения, вес палеты</a:t>
            </a:r>
          </a:p>
          <a:p>
            <a:pPr>
              <a:spcBef>
                <a:spcPts val="1200"/>
              </a:spcBef>
              <a:defRPr sz="2000"/>
            </a:pPr>
            <a:r>
              <a:t>   Выход: прогноз времени доставки (секунды)</a:t>
            </a:r>
          </a:p>
          <a:p>
            <a:pPr>
              <a:spcBef>
                <a:spcPts val="1200"/>
              </a:spcBef>
              <a:defRPr sz="2000"/>
            </a:pPr>
          </a:p>
          <a:p>
            <a:pPr>
              <a:spcBef>
                <a:spcPts val="1200"/>
              </a:spcBef>
              <a:defRPr sz="2000"/>
            </a:pPr>
            <a:r>
              <a:t>База для обучения: 1.5 млн исторических записей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274320"/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5. Умное назначение задач пикерам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2000"/>
            </a:pPr>
            <a:r>
              <a:t>Проблема: не все пикеры одинаково эффективны для всех товаров</a:t>
            </a:r>
          </a:p>
          <a:p>
            <a:pPr>
              <a:spcBef>
                <a:spcPts val="1200"/>
              </a:spcBef>
              <a:defRPr sz="2000"/>
            </a:pPr>
          </a:p>
          <a:p>
            <a:pPr>
              <a:spcBef>
                <a:spcPts val="1200"/>
              </a:spcBef>
              <a:defRPr sz="2000"/>
            </a:pPr>
            <a:r>
              <a:t>Решение — назначаем задачу тому, кто:</a:t>
            </a:r>
          </a:p>
          <a:p>
            <a:pPr>
              <a:spcBef>
                <a:spcPts val="1200"/>
              </a:spcBef>
              <a:defRPr sz="2000"/>
            </a:pPr>
          </a:p>
          <a:p>
            <a:pPr>
              <a:spcBef>
                <a:spcPts val="1200"/>
              </a:spcBef>
              <a:defRPr sz="2000"/>
            </a:pPr>
            <a:r>
              <a:t>   • Лучше справляется с данным типом товара (из истории)</a:t>
            </a:r>
          </a:p>
          <a:p>
            <a:pPr>
              <a:spcBef>
                <a:spcPts val="1200"/>
              </a:spcBef>
              <a:defRPr sz="2000"/>
            </a:pPr>
            <a:r>
              <a:t>   • Сейчас свободен или скоро освободится</a:t>
            </a:r>
          </a:p>
          <a:p>
            <a:pPr>
              <a:spcBef>
                <a:spcPts val="1200"/>
              </a:spcBef>
              <a:defRPr sz="2000"/>
            </a:pPr>
            <a:r>
              <a:t>   • Находится ближе к нужной зоне буфера</a:t>
            </a:r>
          </a:p>
          <a:p>
            <a:pPr>
              <a:spcBef>
                <a:spcPts val="1200"/>
              </a:spcBef>
              <a:defRPr sz="2000"/>
            </a:pPr>
            <a:r>
              <a:t>   • Имеет меньшую загрузку в текущей волне</a:t>
            </a:r>
          </a:p>
          <a:p>
            <a:pPr>
              <a:spcBef>
                <a:spcPts val="1200"/>
              </a:spcBef>
              <a:defRPr sz="2000"/>
            </a:pPr>
          </a:p>
          <a:p>
            <a:pPr>
              <a:spcBef>
                <a:spcPts val="1200"/>
              </a:spcBef>
              <a:defRPr sz="2000"/>
            </a:pPr>
            <a:r>
              <a:t>ML модель учитывает связку: пикер + товар + время → скорость</a:t>
            </a:r>
          </a:p>
          <a:p>
            <a:pPr>
              <a:spcBef>
                <a:spcPts val="1200"/>
              </a:spcBef>
              <a:defRPr sz="2000"/>
            </a:pPr>
          </a:p>
          <a:p>
            <a:pPr>
              <a:spcBef>
                <a:spcPts val="1200"/>
              </a:spcBef>
              <a:defRPr sz="2000"/>
            </a:pPr>
            <a:r>
              <a:t>Результат: задача идёт к тому, кто выполнит её быстрее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274320"/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6. Оптимизация расписания (OR-Tools)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2000"/>
            </a:pPr>
            <a:r>
              <a:t>Задача: минимизация общего времени выполнения волны</a:t>
            </a:r>
          </a:p>
          <a:p>
            <a:pPr>
              <a:spcBef>
                <a:spcPts val="1200"/>
              </a:spcBef>
              <a:defRPr sz="2000"/>
            </a:pPr>
          </a:p>
          <a:p>
            <a:pPr>
              <a:spcBef>
                <a:spcPts val="1200"/>
              </a:spcBef>
              <a:defRPr sz="2000"/>
            </a:pPr>
            <a:r>
              <a:t>Оптимизируем ДВА назначения одновременно:</a:t>
            </a:r>
          </a:p>
          <a:p>
            <a:pPr>
              <a:spcBef>
                <a:spcPts val="1200"/>
              </a:spcBef>
              <a:defRPr sz="2000"/>
            </a:pPr>
            <a:r>
              <a:t>   • Карщик → Палета → Ячейка буфера</a:t>
            </a:r>
          </a:p>
          <a:p>
            <a:pPr>
              <a:spcBef>
                <a:spcPts val="1200"/>
              </a:spcBef>
              <a:defRPr sz="2000"/>
            </a:pPr>
            <a:r>
              <a:t>   • Пикер → Задание на сборку</a:t>
            </a:r>
          </a:p>
          <a:p>
            <a:pPr>
              <a:spcBef>
                <a:spcPts val="1200"/>
              </a:spcBef>
              <a:defRPr sz="2000"/>
            </a:pPr>
          </a:p>
          <a:p>
            <a:pPr>
              <a:spcBef>
                <a:spcPts val="1200"/>
              </a:spcBef>
              <a:defRPr sz="2000"/>
            </a:pPr>
            <a:r>
              <a:t>Учитываем:</a:t>
            </a:r>
          </a:p>
          <a:p>
            <a:pPr>
              <a:spcBef>
                <a:spcPts val="1200"/>
              </a:spcBef>
              <a:defRPr sz="2000"/>
            </a:pPr>
            <a:r>
              <a:t>   • Прогноз времени для каждой пары (пикер, задание)</a:t>
            </a:r>
          </a:p>
          <a:p>
            <a:pPr>
              <a:spcBef>
                <a:spcPts val="1200"/>
              </a:spcBef>
              <a:defRPr sz="2000"/>
            </a:pPr>
            <a:r>
              <a:t>   • Текущую занятость и время до освобождения</a:t>
            </a:r>
          </a:p>
          <a:p>
            <a:pPr>
              <a:spcBef>
                <a:spcPts val="1200"/>
              </a:spcBef>
              <a:defRPr sz="2000"/>
            </a:pPr>
            <a:r>
              <a:t>   • Балансировку нагрузки между всеми работниками</a:t>
            </a:r>
          </a:p>
          <a:p>
            <a:pPr>
              <a:spcBef>
                <a:spcPts val="1200"/>
              </a:spcBef>
              <a:defRPr sz="2000"/>
            </a:pPr>
          </a:p>
          <a:p>
            <a:pPr>
              <a:spcBef>
                <a:spcPts val="1200"/>
              </a:spcBef>
              <a:defRPr sz="2000"/>
            </a:pPr>
            <a:r>
              <a:t>Ограничения: приоритеты заказов, тяжёлые палеты вниз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274320"/>
          <a:lstStyle/>
          <a:p>
            <a:pPr algn="ctr">
              <a:defRPr sz="3200" b="1">
                <a:solidFill>
                  <a:srgbClr val="FFFFFF"/>
                </a:solidFill>
              </a:defRPr>
            </a:pPr>
            <a:r>
              <a:t>7. Цикл оптимизации (каждые 15 минут)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371600"/>
            <a:ext cx="8229600" cy="2286000"/>
          </a:xfrm>
          <a:prstGeom prst="rect">
            <a:avLst/>
          </a:prstGeom>
          <a:solidFill>
            <a:srgbClr val="F0F0F0"/>
          </a:solidFill>
          <a:ln>
            <a:solidFill>
              <a:srgbClr val="C8C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82880"/>
          <a:lstStyle/>
          <a:p>
            <a:pPr algn="ctr">
              <a:defRPr sz="1400">
                <a:latin typeface="Courier New"/>
              </a:defRPr>
            </a:pPr>
            <a:r>
              <a:t>Заказы (волна) → Прогноз ML.NET → OR-Tools CP-SAT → Исполнение WMS → Обратная связь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840480"/>
            <a:ext cx="82296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1800"/>
            </a:pPr>
            <a:r>
              <a:t>1. Получаем список заказов для сборки</a:t>
            </a:r>
          </a:p>
          <a:p>
            <a:pPr>
              <a:spcBef>
                <a:spcPts val="800"/>
              </a:spcBef>
              <a:defRPr sz="1800"/>
            </a:pPr>
            <a:r>
              <a:t>2. ML предсказывает время каждой операции</a:t>
            </a:r>
          </a:p>
          <a:p>
            <a:pPr>
              <a:spcBef>
                <a:spcPts val="800"/>
              </a:spcBef>
              <a:defRPr sz="1800"/>
            </a:pPr>
            <a:r>
              <a:t>3. OR-Tools строит оптимальный план</a:t>
            </a:r>
          </a:p>
          <a:p>
            <a:pPr>
              <a:spcBef>
                <a:spcPts val="800"/>
              </a:spcBef>
              <a:defRPr sz="1800"/>
            </a:pPr>
            <a:r>
              <a:t>4. План отправляется в WMS для исполнения</a:t>
            </a:r>
          </a:p>
          <a:p>
            <a:pPr>
              <a:spcBef>
                <a:spcPts val="800"/>
              </a:spcBef>
              <a:defRPr sz="1800"/>
            </a:pPr>
            <a:r>
              <a:t>5. Результаты используются для улучшения моделей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274320"/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8. Пример: волна из 50 заданий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2000"/>
            </a:pPr>
            <a:r>
              <a:t>БЕЗ оптимизации:</a:t>
            </a:r>
          </a:p>
          <a:p>
            <a:pPr>
              <a:spcBef>
                <a:spcPts val="1200"/>
              </a:spcBef>
              <a:defRPr sz="2000"/>
            </a:pPr>
            <a:r>
              <a:t>   Карщик 1: ████████████████████████ (перегружен)</a:t>
            </a:r>
          </a:p>
          <a:p>
            <a:pPr>
              <a:spcBef>
                <a:spcPts val="1200"/>
              </a:spcBef>
              <a:defRPr sz="2000"/>
            </a:pPr>
            <a:r>
              <a:t>   Карщик 2: ████████░░░░░░░░░░░░░░░░ (недогружен)</a:t>
            </a:r>
          </a:p>
          <a:p>
            <a:pPr>
              <a:spcBef>
                <a:spcPts val="1200"/>
              </a:spcBef>
              <a:defRPr sz="2000"/>
            </a:pPr>
            <a:r>
              <a:t>   Карщик 3: ██████████████░░░░░░░░░░ (средне)</a:t>
            </a:r>
          </a:p>
          <a:p>
            <a:pPr>
              <a:spcBef>
                <a:spcPts val="1200"/>
              </a:spcBef>
              <a:defRPr sz="2000"/>
            </a:pPr>
            <a:r>
              <a:t>   Время волны: 45 минут, простои: 12%</a:t>
            </a:r>
          </a:p>
          <a:p>
            <a:pPr>
              <a:spcBef>
                <a:spcPts val="1200"/>
              </a:spcBef>
              <a:defRPr sz="2000"/>
            </a:pPr>
          </a:p>
          <a:p>
            <a:pPr>
              <a:spcBef>
                <a:spcPts val="1200"/>
              </a:spcBef>
              <a:defRPr sz="2000"/>
            </a:pPr>
            <a:r>
              <a:t>С оптимизацией OR-Tools:</a:t>
            </a:r>
          </a:p>
          <a:p>
            <a:pPr>
              <a:spcBef>
                <a:spcPts val="1200"/>
              </a:spcBef>
              <a:defRPr sz="2000"/>
            </a:pPr>
            <a:r>
              <a:t>   Карщик 1: ████████████████░░░░░░░░ (сбалансировано)</a:t>
            </a:r>
          </a:p>
          <a:p>
            <a:pPr>
              <a:spcBef>
                <a:spcPts val="1200"/>
              </a:spcBef>
              <a:defRPr sz="2000"/>
            </a:pPr>
            <a:r>
              <a:t>   Карщик 2: ███████████████░░░░░░░░░ (сбалансировано)</a:t>
            </a:r>
          </a:p>
          <a:p>
            <a:pPr>
              <a:spcBef>
                <a:spcPts val="1200"/>
              </a:spcBef>
              <a:defRPr sz="2000"/>
            </a:pPr>
            <a:r>
              <a:t>   Карщик 3: ████████████████░░░░░░░░ (сбалансировано)</a:t>
            </a:r>
          </a:p>
          <a:p>
            <a:pPr>
              <a:spcBef>
                <a:spcPts val="1200"/>
              </a:spcBef>
              <a:defRPr sz="2000"/>
            </a:pPr>
            <a:r>
              <a:t>   Время волны: 32 минуты (-29%), простои: 3%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274320"/>
          <a:lstStyle/>
          <a:p>
            <a:pPr algn="ctr">
              <a:defRPr sz="3200" b="1">
                <a:solidFill>
                  <a:srgbClr val="FFFFFF"/>
                </a:solidFill>
              </a:defRPr>
            </a:pPr>
            <a:r>
              <a:t>9. Ожидаемые результаты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371600"/>
          <a:ext cx="822960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  <a:gridCol w="2057400"/>
                <a:gridCol w="2057400"/>
              </a:tblGrid>
              <a:tr h="91440">
                <a:tc>
                  <a:txBody>
                    <a:bodyPr/>
                    <a:lstStyle/>
                    <a:p>
                      <a:pPr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Метрика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До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После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Улучшение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</a:tr>
              <a:tr h="9144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Время волны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45 мин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32 мин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-29%</a:t>
                      </a:r>
                    </a:p>
                  </a:txBody>
                  <a:tcPr/>
                </a:tc>
              </a:tr>
              <a:tr h="9144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Простои сборщиков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12%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-75%</a:t>
                      </a:r>
                    </a:p>
                  </a:txBody>
                  <a:tcPr/>
                </a:tc>
              </a:tr>
              <a:tr h="9144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Критические ситуации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5/день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&lt;1/день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-80%</a:t>
                      </a:r>
                    </a:p>
                  </a:txBody>
                  <a:tcPr/>
                </a:tc>
              </a:tr>
              <a:tr h="9144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Пробег карщиков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100%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85%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-15%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274320"/>
          <a:lstStyle/>
          <a:p>
            <a:pPr algn="ctr">
              <a:defRPr sz="3200" b="1">
                <a:solidFill>
                  <a:srgbClr val="FFFFFF"/>
                </a:solidFill>
              </a:defRPr>
            </a:pPr>
            <a:r>
              <a:t>10. План внедрения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371600"/>
          <a:ext cx="822960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76200">
                <a:tc>
                  <a:txBody>
                    <a:bodyPr/>
                    <a:lstStyle/>
                    <a:p>
                      <a:pPr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Этап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Задачи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Результат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</a:tr>
              <a:tr h="7620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1. ML-модели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Обучение на истории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Прогноз времени</a:t>
                      </a:r>
                    </a:p>
                  </a:txBody>
                  <a:tcPr/>
                </a:tc>
              </a:tr>
              <a:tr h="7620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2. Тестирование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Сравнение с реальностью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Оценка точности</a:t>
                      </a:r>
                    </a:p>
                  </a:txBody>
                  <a:tcPr/>
                </a:tc>
              </a:tr>
              <a:tr h="7620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3. OR-Tools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Интеграция оптимизатора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Авто-планирование</a:t>
                      </a:r>
                    </a:p>
                  </a:txBody>
                  <a:tcPr/>
                </a:tc>
              </a:tr>
              <a:tr h="7620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4. Пилот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Работа на реальных данных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Валидация</a:t>
                      </a:r>
                    </a:p>
                  </a:txBody>
                  <a:tcPr/>
                </a:tc>
              </a:tr>
              <a:tr h="7620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5. Продакшн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Полная интеграция с WMS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Автономная работа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274320"/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11. Резюме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2000"/>
            </a:pPr>
            <a:r>
              <a:t>Система WMS Buffer Management позволит:</a:t>
            </a:r>
          </a:p>
          <a:p>
            <a:pPr>
              <a:spcBef>
                <a:spcPts val="1200"/>
              </a:spcBef>
              <a:defRPr sz="2000"/>
            </a:pPr>
          </a:p>
          <a:p>
            <a:pPr>
              <a:spcBef>
                <a:spcPts val="1200"/>
              </a:spcBef>
              <a:defRPr sz="2000"/>
            </a:pPr>
            <a:r>
              <a:t>• Назначать задачи лучшим исполнителям (пикер↔товар)</a:t>
            </a:r>
          </a:p>
          <a:p>
            <a:pPr>
              <a:spcBef>
                <a:spcPts val="1200"/>
              </a:spcBef>
              <a:defRPr sz="2000"/>
            </a:pPr>
            <a:r>
              <a:t>• Учитывать занятость и время освобождения</a:t>
            </a:r>
          </a:p>
          <a:p>
            <a:pPr>
              <a:spcBef>
                <a:spcPts val="1200"/>
              </a:spcBef>
              <a:defRPr sz="2000"/>
            </a:pPr>
            <a:r>
              <a:t>• Оптимизировать маршруты карщиков</a:t>
            </a:r>
          </a:p>
          <a:p>
            <a:pPr>
              <a:spcBef>
                <a:spcPts val="1200"/>
              </a:spcBef>
              <a:defRPr sz="2000"/>
            </a:pPr>
            <a:r>
              <a:t>• Сократить время волны на ~30%</a:t>
            </a:r>
          </a:p>
          <a:p>
            <a:pPr>
              <a:spcBef>
                <a:spcPts val="1200"/>
              </a:spcBef>
              <a:defRPr sz="2000"/>
            </a:pPr>
            <a:r>
              <a:t>• Минимизировать простои персонала</a:t>
            </a:r>
          </a:p>
          <a:p>
            <a:pPr>
              <a:spcBef>
                <a:spcPts val="1200"/>
              </a:spcBef>
              <a:defRPr sz="2000"/>
            </a:pPr>
          </a:p>
          <a:p>
            <a:pPr>
              <a:spcBef>
                <a:spcPts val="1200"/>
              </a:spcBef>
              <a:defRPr sz="2000"/>
            </a:pPr>
            <a:r>
              <a:t>Основа: 1.5 млн записей + ML.NET + OR-Tools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
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Оптимизация буферной зоны склада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46464"/>
                </a:solidFill>
              </a:defRPr>
            </a:pPr>
            <a:r>
              <a:t>WMS Buffer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Текущая ситуация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latin typeface="Courier New"/>
              </a:defRPr>
            </a:pPr>
            <a:r>
              <a:t>ХРАНЕНИЕ  ──[3 карщика]──►  БУФЕР (64 ячейки)  ──[20 сборщиков]──►  СБОРКА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• 3 карщика доставляют моно-палеты из хранения в буфер</a:t>
            </a:r>
          </a:p>
          <a:p>
            <a:pPr>
              <a:spcBef>
                <a:spcPts val="800"/>
              </a:spcBef>
              <a:defRPr sz="1800"/>
            </a:pPr>
            <a:r>
              <a:t>• 64 ячейки буфера — временное хранение для сборки</a:t>
            </a:r>
          </a:p>
          <a:p>
            <a:pPr>
              <a:spcBef>
                <a:spcPts val="800"/>
              </a:spcBef>
              <a:defRPr sz="1800"/>
            </a:pPr>
            <a:r>
              <a:t>• 20 сборщиков забирают товары и распределяют по заказам</a:t>
            </a:r>
          </a:p>
          <a:p>
            <a:pPr>
              <a:spcBef>
                <a:spcPts val="800"/>
              </a:spcBef>
              <a:defRPr sz="1800"/>
            </a:pPr>
            <a:r>
              <a:t>• Проблема: синхронизация подачи палет со скоростью сборки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Почему это важно — потери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Ситуация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Последствия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пустой (&lt;15%)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Сборщики простаивают, заказы задерживаются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Буфер переполнен (&gt;70%)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Карщики ждут освобождения ячеек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Неравномерная нагрузка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Одни перегружены, другие простаивают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Каждый сбой потока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Задержка целой волны заказов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3. Решение — 3 уровня оптимизации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УРОВЕНЬ 3: ПРОГНОЗИРОВАНИЕ (Historical Layer)</a:t>
            </a:r>
          </a:p>
          <a:p>
            <a:pPr>
              <a:spcBef>
                <a:spcPts val="1200"/>
              </a:spcBef>
              <a:defRPr sz="2000"/>
            </a:pPr>
            <a:r>
              <a:t>   → ML-модели предсказывают время выполнения задач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УРОВЕНЬ 2: ПЛАНИРОВАНИЕ (Tactical Layer)</a:t>
            </a:r>
          </a:p>
          <a:p>
            <a:pPr>
              <a:spcBef>
                <a:spcPts val="1200"/>
              </a:spcBef>
              <a:defRPr sz="2000"/>
            </a:pPr>
            <a:r>
              <a:t>   → OR-Tools оптимизирует назначения и расписание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УРОВЕНЬ 1: РЕАГИРОВАНИЕ (Realtime Layer)</a:t>
            </a:r>
          </a:p>
          <a:p>
            <a:pPr>
              <a:spcBef>
                <a:spcPts val="1200"/>
              </a:spcBef>
              <a:defRPr sz="2000"/>
            </a:pPr>
            <a:r>
              <a:t>   → Гистерезис-контроллер управляет уровнем буфера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Принцип: Прогноз → План → Исполнение → Корректировка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4. ML-модели для прогнозирования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Модель 1: Время сборки (Picker Duration)</a:t>
            </a:r>
          </a:p>
          <a:p>
            <a:pPr>
              <a:spcBef>
                <a:spcPts val="1200"/>
              </a:spcBef>
              <a:defRPr sz="2000"/>
            </a:pPr>
            <a:r>
              <a:t>   Входы: ID сборщика, кол-во строк, кол-во товаров, час, день недели</a:t>
            </a:r>
          </a:p>
          <a:p>
            <a:pPr>
              <a:spcBef>
                <a:spcPts val="1200"/>
              </a:spcBef>
              <a:defRPr sz="2000"/>
            </a:pPr>
            <a:r>
              <a:t>   Выход: прогноз времени выполнения задания (секунды)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Модель 2: Время маршрута карщика (Forklift Duration)</a:t>
            </a:r>
          </a:p>
          <a:p>
            <a:pPr>
              <a:spcBef>
                <a:spcPts val="1200"/>
              </a:spcBef>
              <a:defRPr sz="2000"/>
            </a:pPr>
            <a:r>
              <a:t>   Входы: ID карщика, зона источника → зона назначения, вес палеты</a:t>
            </a:r>
          </a:p>
          <a:p>
            <a:pPr>
              <a:spcBef>
                <a:spcPts val="1200"/>
              </a:spcBef>
              <a:defRPr sz="2000"/>
            </a:pPr>
            <a:r>
              <a:t>   Выход: прогноз времени доставки (секунды)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База для обучения: 1.5 млн исторических записей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5. Умное назначение задач пикерам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Проблема: не все пикеры одинаково эффективны для всех товаров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Решение — назначаем задачу тому, кто: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   • Лучше справляется с данным типом товара (из истории)</a:t>
            </a:r>
          </a:p>
          <a:p>
            <a:pPr>
              <a:spcBef>
                <a:spcPts val="1200"/>
              </a:spcBef>
              <a:defRPr sz="2000"/>
            </a:pPr>
            <a:r>
              <a:t>   • Сейчас свободен или скоро освободится</a:t>
            </a:r>
          </a:p>
          <a:p>
            <a:pPr>
              <a:spcBef>
                <a:spcPts val="1200"/>
              </a:spcBef>
              <a:defRPr sz="2000"/>
            </a:pPr>
            <a:r>
              <a:t>   • Находится ближе к нужной зоне буфера</a:t>
            </a:r>
          </a:p>
          <a:p>
            <a:pPr>
              <a:spcBef>
                <a:spcPts val="1200"/>
              </a:spcBef>
              <a:defRPr sz="2000"/>
            </a:pPr>
            <a:r>
              <a:t>   • Имеет меньшую загрузку в текущей волне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ML модель учитывает связку: пикер + товар + объём → время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6. Аналитика по товарам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Для каждого товара рассчитываем: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   • Среднее время распределения (сложность товара)</a:t>
            </a:r>
          </a:p>
          <a:p>
            <a:pPr>
              <a:spcBef>
                <a:spcPts val="1200"/>
              </a:spcBef>
              <a:defRPr sz="2000"/>
            </a:pPr>
            <a:r>
              <a:t>   • Типичное количество в задании (мин, макс, медиана)</a:t>
            </a:r>
          </a:p>
          <a:p>
            <a:pPr>
              <a:spcBef>
                <a:spcPts val="1200"/>
              </a:spcBef>
              <a:defRPr sz="2000"/>
            </a:pPr>
            <a:r>
              <a:t>   • Вариативность времени (стабильность)</a:t>
            </a:r>
          </a:p>
          <a:p>
            <a:pPr>
              <a:spcBef>
                <a:spcPts val="1200"/>
              </a:spcBef>
              <a:defRPr sz="2000"/>
            </a:pPr>
            <a:r>
              <a:t>   • Частота появления (приоритет оптимизации)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Использование:</a:t>
            </a:r>
          </a:p>
          <a:p>
            <a:pPr>
              <a:spcBef>
                <a:spcPts val="1200"/>
              </a:spcBef>
              <a:defRPr sz="2000"/>
            </a:pPr>
            <a:r>
              <a:t>   • Прогноз времени волны = Σ (кол-во × время на единицу)</a:t>
            </a:r>
          </a:p>
          <a:p>
            <a:pPr>
              <a:spcBef>
                <a:spcPts val="1200"/>
              </a:spcBef>
              <a:defRPr sz="2000"/>
            </a:pPr>
            <a:r>
              <a:t>   • Выявление 'проблемных' товаров</a:t>
            </a:r>
          </a:p>
          <a:p>
            <a:pPr>
              <a:spcBef>
                <a:spcPts val="1200"/>
              </a:spcBef>
              <a:defRPr sz="2000"/>
            </a:pPr>
            <a:r>
              <a:t>   • Частые товары → ближе к выходу из буфера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7. Оптимизация расписания (OR-Tools)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Задача: минимизация общего времени выполнения волны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Оптимизируем ДВА назначения одновременно:</a:t>
            </a:r>
          </a:p>
          <a:p>
            <a:pPr>
              <a:spcBef>
                <a:spcPts val="1200"/>
              </a:spcBef>
              <a:defRPr sz="2000"/>
            </a:pPr>
            <a:r>
              <a:t>   • Карщик → Палета → Ячейка буфера</a:t>
            </a:r>
          </a:p>
          <a:p>
            <a:pPr>
              <a:spcBef>
                <a:spcPts val="1200"/>
              </a:spcBef>
              <a:defRPr sz="2000"/>
            </a:pPr>
            <a:r>
              <a:t>   • Пикер → Задание на сборку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Учитываем:</a:t>
            </a:r>
          </a:p>
          <a:p>
            <a:pPr>
              <a:spcBef>
                <a:spcPts val="1200"/>
              </a:spcBef>
              <a:defRPr sz="2000"/>
            </a:pPr>
            <a:r>
              <a:t>   • Прогноз времени для каждой пары (пикер, задание)</a:t>
            </a:r>
          </a:p>
          <a:p>
            <a:pPr>
              <a:spcBef>
                <a:spcPts val="1200"/>
              </a:spcBef>
              <a:defRPr sz="2000"/>
            </a:pPr>
            <a:r>
              <a:t>   • Текущую занятость и время до освобождения</a:t>
            </a:r>
          </a:p>
          <a:p>
            <a:pPr>
              <a:spcBef>
                <a:spcPts val="1200"/>
              </a:spcBef>
              <a:defRPr sz="2000"/>
            </a:pPr>
            <a:r>
              <a:t>   • Балансировку нагрузки между всеми работниками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Ограничения: приоритеты заказов, тяжёлые палеты вниз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Цикл оптимизации (каждые 15 минут)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>
                <a:latin typeface="Courier New"/>
              </a:defRPr>
            </a:pPr>
            <a:r>
              <a:t>Заказы (волна) → Прогноз ML.NET → OR-Tools CP-SAT → Исполнение WMS → Обратная связь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/>
            </a:pPr>
            <a:r>
              <a:t>1. Получаем список заказов для сборки</a:t>
            </a:r>
          </a:p>
          <a:p>
            <a:pPr>
              <a:spcBef>
                <a:spcPts val="800"/>
              </a:spcBef>
              <a:defRPr sz="1800"/>
            </a:pPr>
            <a:r>
              <a:t>2. ML предсказывает время каждой операции</a:t>
            </a:r>
          </a:p>
          <a:p>
            <a:pPr>
              <a:spcBef>
                <a:spcPts val="800"/>
              </a:spcBef>
              <a:defRPr sz="1800"/>
            </a:pPr>
            <a:r>
              <a:t>3. OR-Tools строит оптимальный план</a:t>
            </a:r>
          </a:p>
          <a:p>
            <a:pPr>
              <a:spcBef>
                <a:spcPts val="800"/>
              </a:spcBef>
              <a:defRPr sz="1800"/>
            </a:pPr>
            <a:r>
              <a:t>4. План отправляется в WMS для исполнения</a:t>
            </a:r>
          </a:p>
          <a:p>
            <a:pPr>
              <a:spcBef>
                <a:spcPts val="800"/>
              </a:spcBef>
              <a:defRPr sz="1800"/>
            </a:pPr>
            <a:r>
              <a:t>5. Результаты используются для улучшения моделей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9. Пример: волна из 50 заданий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БЕЗ оптимизации:</a:t>
            </a:r>
          </a:p>
          <a:p>
            <a:pPr>
              <a:spcBef>
                <a:spcPts val="1200"/>
              </a:spcBef>
              <a:defRPr sz="2000"/>
            </a:pPr>
            <a:r>
              <a:t>   Карщик 1: ████████████████████████ (перегружен)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2: ████████░░░░░░░░░░░░░░░░ (недогружен)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3: ██████████████░░░░░░░░░░ (средне)</a:t>
            </a:r>
          </a:p>
          <a:p>
            <a:pPr>
              <a:spcBef>
                <a:spcPts val="1200"/>
              </a:spcBef>
              <a:defRPr sz="2000"/>
            </a:pPr>
            <a:r>
              <a:t>   Время волны: 45 минут, простои: 12%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С оптимизацией OR-Tools:</a:t>
            </a:r>
          </a:p>
          <a:p>
            <a:pPr>
              <a:spcBef>
                <a:spcPts val="1200"/>
              </a:spcBef>
              <a:defRPr sz="2000"/>
            </a:pPr>
            <a:r>
              <a:t>   Карщик 1: ████████████████░░░░░░░░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2: ███████████████░░░░░░░░░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Карщик 3: ████████████████░░░░░░░░ (сбалансировано)</a:t>
            </a:r>
          </a:p>
          <a:p>
            <a:pPr>
              <a:spcBef>
                <a:spcPts val="1200"/>
              </a:spcBef>
              <a:defRPr sz="2000"/>
            </a:pPr>
            <a:r>
              <a:t>   Время волны: 32 минуты (-29%), простои: 3%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10. Ожидаемые результаты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914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До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После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Улучшение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Время волны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45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 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-29%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Простои сборщиков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-75%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Критические ситуации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&lt;1/день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-80%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Пробег карщиков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-15%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27432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11. План внедрения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6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Этап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Задачи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 ML-модели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Обучение на истории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Прогноз времени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 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Сравнение с реальностью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Оценка точности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 OR-Tools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Интеграция оптимизатора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Авто-планирование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 Пилот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Работа на реальных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Валидация</a:t>
                      </a:r>
                    </a:p>
                  </a:txBody>
                  <a:tcPr/>
                </a:tc>
              </a:tr>
              <a:tr h="76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 Продакшн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Полная интеграция с WMS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Автономная работа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12. Резюме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000"/>
            </a:pPr>
            <a:r>
              <a:t>Система WMS Buffer Management позволит: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• Назначать задачи лучшим исполнителям (пикер↔товар)</a:t>
            </a:r>
          </a:p>
          <a:p>
            <a:pPr>
              <a:spcBef>
                <a:spcPts val="1200"/>
              </a:spcBef>
              <a:defRPr sz="2000"/>
            </a:pPr>
            <a:r>
              <a:t>• Учитывать занятость и время освобождения</a:t>
            </a:r>
          </a:p>
          <a:p>
            <a:pPr>
              <a:spcBef>
                <a:spcPts val="1200"/>
              </a:spcBef>
              <a:defRPr sz="2000"/>
            </a:pPr>
            <a:r>
              <a:t>• Оптимизировать маршруты карщиков</a:t>
            </a:r>
          </a:p>
          <a:p>
            <a:pPr>
              <a:spcBef>
                <a:spcPts val="1200"/>
              </a:spcBef>
              <a:defRPr sz="2000"/>
            </a:pPr>
            <a:r>
              <a:t>• Сократить время волны на ~30%</a:t>
            </a:r>
          </a:p>
          <a:p>
            <a:pPr>
              <a:spcBef>
                <a:spcPts val="1200"/>
              </a:spcBef>
              <a:defRPr sz="2000"/>
            </a:pPr>
            <a:r>
              <a:t>• Минимизировать простои персонала</a:t>
            </a:r>
          </a:p>
          <a:p>
            <a:pPr>
              <a:spcBef>
                <a:spcPts val="1200"/>
              </a:spcBef>
              <a:defRPr sz="2000"/>
            </a:pPr>
          </a:p>
          <a:p>
            <a:pPr>
              <a:spcBef>
                <a:spcPts val="1200"/>
              </a:spcBef>
              <a:defRPr sz="2000"/>
            </a:pPr>
            <a:r>
              <a:t>Основа: 1.5 млн записей + ML.NET + OR-Tools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